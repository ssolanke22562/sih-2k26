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21D33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846320"/>
            <a:ext cx="3291840" cy="32918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2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 ·  SIH26101  ·  SOFTWARE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AI-Enabled Adaptive Learning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Assessment Platform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India's Official Statistical System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886200"/>
            <a:ext cx="2926080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1148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static, one-size-fits-all training with a continuous, AI-driven capacity-building system for statistical officers — built for the Ministry of Statistics and Programme Implementation (MoSPI), integrated with iGOT Karmayogi.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5623560"/>
            <a:ext cx="1901952" cy="384048"/>
          </a:xfrm>
          <a:prstGeom prst="roundRect">
            <a:avLst>
              <a:gd name="adj" fmla="val 50000"/>
            </a:avLst>
          </a:prstGeom>
          <a:solidFill>
            <a:srgbClr val="121D33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62356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Diagnostics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889504" y="5623560"/>
            <a:ext cx="2327148" cy="384048"/>
          </a:xfrm>
          <a:prstGeom prst="roundRect">
            <a:avLst>
              <a:gd name="adj" fmla="val 50000"/>
            </a:avLst>
          </a:prstGeom>
          <a:solidFill>
            <a:srgbClr val="121D33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9504" y="5623560"/>
            <a:ext cx="23271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LLM Assessment Gen.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81244" y="5623560"/>
            <a:ext cx="2412187" cy="384048"/>
          </a:xfrm>
          <a:prstGeom prst="roundRect">
            <a:avLst>
              <a:gd name="adj" fmla="val 50000"/>
            </a:avLst>
          </a:prstGeom>
          <a:solidFill>
            <a:srgbClr val="121D33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81244" y="5623560"/>
            <a:ext cx="241218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iGOT Karmayogi Integration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958023" y="5623560"/>
            <a:ext cx="1816913" cy="384048"/>
          </a:xfrm>
          <a:prstGeom prst="roundRect">
            <a:avLst>
              <a:gd name="adj" fmla="val 50000"/>
            </a:avLst>
          </a:prstGeom>
          <a:solidFill>
            <a:srgbClr val="121D33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8023" y="5623560"/>
            <a:ext cx="1816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2960" y="6355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Statistics and Programme Implementation (MoSPI)  |  Product/Engineering Team  |  v1.0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Is Static — Skill Gaps Are Not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Official Statistical System spans central, state, and district tiers. Personnel must continuously keep pace with evolving statistical methods, survey workflows, and data tooling — but training remains static, manually administered, and disconnected from individual proficiency.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331720"/>
            <a:ext cx="3593592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8B95A6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2624328"/>
            <a:ext cx="658368" cy="65836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7" name="Image 0" descr="/home/claude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116" y="2709916"/>
            <a:ext cx="487192" cy="4871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319272" y="2560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2E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95528" y="3429000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 Mismatches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95528" y="4114800"/>
            <a:ext cx="30083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diagnostic exists to baseline individual skills against evolving methods and tools — gaps go undetected until they hurt survey and data quality.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25112" y="2331720"/>
            <a:ext cx="3593592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8B95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17720" y="2624328"/>
            <a:ext cx="658368" cy="65836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3" name="Image 1" descr="/home/claude/icons/rou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308" y="2709916"/>
            <a:ext cx="487192" cy="4871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41464" y="2560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2E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4617720" y="3429000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vs. Personalized Training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617720" y="4114800"/>
            <a:ext cx="30083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programs don't adapt to proficiency or role, leading to low training ROI, disengagement, and redundant learning for already-proficient staff.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147304" y="2331720"/>
            <a:ext cx="3593592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8B95A6">
                <a:alpha val="2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439912" y="2624328"/>
            <a:ext cx="658368" cy="65836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9" name="Image 2" descr="/home/claude/icons/rob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5500" y="2709916"/>
            <a:ext cx="487192" cy="48719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963656" y="2560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2E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8439912" y="3429000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Generation Overhead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439912" y="4114800"/>
            <a:ext cx="30083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authoring MCQs and case studies from dense official documents is slow and resource-intensive — a bottleneck to scaling training quality.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SIH26101 · Adaptive Learning &amp; Assessment Platform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Four AI-Driven Pillars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5331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scalable, AI/NLP-driven platform that diagnoses skill gaps, personalizes learning via iGOT Karmayogi, auto-generates high-quality assessments with RAG pipelines, and gives decision-makers institutional-level readiness analytics.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2679192" cy="3566160"/>
          </a:xfrm>
          <a:prstGeom prst="roundRect">
            <a:avLst>
              <a:gd name="adj" fmla="val 3072"/>
            </a:avLst>
          </a:prstGeom>
          <a:solidFill>
            <a:srgbClr val="1B2A4A"/>
          </a:solidFill>
          <a:ln/>
        </p:spPr>
      </p:sp>
      <p:sp>
        <p:nvSpPr>
          <p:cNvPr id="6" name="Shape 4"/>
          <p:cNvSpPr/>
          <p:nvPr/>
        </p:nvSpPr>
        <p:spPr>
          <a:xfrm>
            <a:off x="758952" y="2441448"/>
            <a:ext cx="594360" cy="59436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7" name="Image 0" descr="/home/claude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219" y="2518715"/>
            <a:ext cx="439826" cy="43982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8952" y="3246120"/>
            <a:ext cx="2167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 Diagnostic Engine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58952" y="4114800"/>
            <a:ext cx="2167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assessments map individual &amp; role-based proficiency against target competency frameworks.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3364992" y="2148840"/>
            <a:ext cx="2679192" cy="3566160"/>
          </a:xfrm>
          <a:prstGeom prst="roundRect">
            <a:avLst>
              <a:gd name="adj" fmla="val 3072"/>
            </a:avLst>
          </a:prstGeom>
          <a:solidFill>
            <a:srgbClr val="0E7C86"/>
          </a:solidFill>
          <a:ln/>
        </p:spPr>
      </p:sp>
      <p:sp>
        <p:nvSpPr>
          <p:cNvPr id="11" name="Shape 8"/>
          <p:cNvSpPr/>
          <p:nvPr/>
        </p:nvSpPr>
        <p:spPr>
          <a:xfrm>
            <a:off x="3621024" y="2441448"/>
            <a:ext cx="594360" cy="59436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12" name="Image 1" descr="/home/claude/icons/rou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291" y="2518715"/>
            <a:ext cx="439826" cy="43982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21024" y="3246120"/>
            <a:ext cx="2167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Learning Pathways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21024" y="4114800"/>
            <a:ext cx="2167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iGOT Karmayogi courses ranked against each learner's identified skill gaps.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6227064" y="2148840"/>
            <a:ext cx="2679192" cy="3566160"/>
          </a:xfrm>
          <a:prstGeom prst="roundRect">
            <a:avLst>
              <a:gd name="adj" fmla="val 3072"/>
            </a:avLst>
          </a:prstGeom>
          <a:solidFill>
            <a:srgbClr val="1B2A4A"/>
          </a:solidFill>
          <a:ln/>
        </p:spPr>
      </p:sp>
      <p:sp>
        <p:nvSpPr>
          <p:cNvPr id="16" name="Shape 12"/>
          <p:cNvSpPr/>
          <p:nvPr/>
        </p:nvSpPr>
        <p:spPr>
          <a:xfrm>
            <a:off x="6483096" y="2441448"/>
            <a:ext cx="594360" cy="59436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17" name="Image 2" descr="/home/claude/icons/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363" y="2518715"/>
            <a:ext cx="439826" cy="43982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83096" y="3246120"/>
            <a:ext cx="2167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Assessment Generation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83096" y="4114800"/>
            <a:ext cx="2167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RAG pipeline turns official documents into MCQs, scenario quizzes &amp; case studies with SME review.</a:t>
            </a:r>
            <a:endParaRPr lang="en-US" sz="1080" dirty="0"/>
          </a:p>
        </p:txBody>
      </p:sp>
      <p:sp>
        <p:nvSpPr>
          <p:cNvPr id="20" name="Shape 15"/>
          <p:cNvSpPr/>
          <p:nvPr/>
        </p:nvSpPr>
        <p:spPr>
          <a:xfrm>
            <a:off x="9089136" y="2148840"/>
            <a:ext cx="2679192" cy="3566160"/>
          </a:xfrm>
          <a:prstGeom prst="roundRect">
            <a:avLst>
              <a:gd name="adj" fmla="val 3072"/>
            </a:avLst>
          </a:prstGeom>
          <a:solidFill>
            <a:srgbClr val="0E7C86"/>
          </a:solidFill>
          <a:ln/>
        </p:spPr>
      </p:sp>
      <p:sp>
        <p:nvSpPr>
          <p:cNvPr id="21" name="Shape 16"/>
          <p:cNvSpPr/>
          <p:nvPr/>
        </p:nvSpPr>
        <p:spPr>
          <a:xfrm>
            <a:off x="9345168" y="2441448"/>
            <a:ext cx="594360" cy="59436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22" name="Image 3" descr="/home/claude/icons/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2435" y="2518715"/>
            <a:ext cx="439826" cy="43982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45168" y="3246120"/>
            <a:ext cx="2167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 Dashboards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345168" y="4114800"/>
            <a:ext cx="2167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Learner, coordinator, and institutional-admin views into readiness, gaps, and training ROI.</a:t>
            </a:r>
            <a:endParaRPr lang="en-US" sz="108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SIH26101 · Adaptive Learning &amp; Assessment Platform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SERVE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Personas, One Platform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2139696" cy="48006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8B95A6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61872" y="1801368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6" name="Image 0" descr="/home/claude/icons/lea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2705" y="1882201"/>
            <a:ext cx="460126" cy="4601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0936" y="2606040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Officer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30936" y="3172968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LEARNER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960120" y="3520440"/>
            <a:ext cx="1225296" cy="0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7512" y="3657600"/>
            <a:ext cx="18105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3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diagnostic, relevant course suggestions, bilingual mobile-friendly UI, clear progress tracking.</a:t>
            </a:r>
            <a:endParaRPr lang="en-US" sz="1030" dirty="0"/>
          </a:p>
        </p:txBody>
      </p:sp>
      <p:sp>
        <p:nvSpPr>
          <p:cNvPr id="11" name="Shape 8"/>
          <p:cNvSpPr/>
          <p:nvPr/>
        </p:nvSpPr>
        <p:spPr>
          <a:xfrm>
            <a:off x="2816352" y="1508760"/>
            <a:ext cx="2139696" cy="48006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8B95A6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75304" y="1801368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3" name="Image 1" descr="/home/claude/icons/coordina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6137" y="1882201"/>
            <a:ext cx="460126" cy="46012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44368" y="2606040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Coordinator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2944368" y="3172968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DEPARTMENTAL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273552" y="3520440"/>
            <a:ext cx="1225296" cy="0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980944" y="3657600"/>
            <a:ext cx="18105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3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assessment creation from internal documents, cohort progress visibility, reporting.</a:t>
            </a:r>
            <a:endParaRPr lang="en-US" sz="1030" dirty="0"/>
          </a:p>
        </p:txBody>
      </p:sp>
      <p:sp>
        <p:nvSpPr>
          <p:cNvPr id="18" name="Shape 14"/>
          <p:cNvSpPr/>
          <p:nvPr/>
        </p:nvSpPr>
        <p:spPr>
          <a:xfrm>
            <a:off x="5129784" y="1508760"/>
            <a:ext cx="2139696" cy="48006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8B95A6">
                <a:alpha val="2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888736" y="1801368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0" name="Image 2" descr="/home/claude/icons/s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569" y="1882201"/>
            <a:ext cx="460126" cy="46012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257800" y="2606040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Matter Expert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5257800" y="3172968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REVIEWER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5586984" y="3520440"/>
            <a:ext cx="1225296" cy="0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294376" y="3657600"/>
            <a:ext cx="18105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3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review/edit interface, confidence scores on generated content, source traceability.</a:t>
            </a:r>
            <a:endParaRPr lang="en-US" sz="1030" dirty="0"/>
          </a:p>
        </p:txBody>
      </p:sp>
      <p:sp>
        <p:nvSpPr>
          <p:cNvPr id="25" name="Shape 20"/>
          <p:cNvSpPr/>
          <p:nvPr/>
        </p:nvSpPr>
        <p:spPr>
          <a:xfrm>
            <a:off x="7443216" y="1508760"/>
            <a:ext cx="2139696" cy="48006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8B95A6">
                <a:alpha val="2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202168" y="1801368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7" name="Image 3" descr="/home/claude/icons/institu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3001" y="1882201"/>
            <a:ext cx="460126" cy="46012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571232" y="2606040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Admin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7571232" y="3172968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MOSPI HQ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7900416" y="3520440"/>
            <a:ext cx="1225296" cy="0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607808" y="3657600"/>
            <a:ext cx="18105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3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dashboards, competency heatmaps by region/role, iGOT integration status.</a:t>
            </a:r>
            <a:endParaRPr lang="en-US" sz="1030" dirty="0"/>
          </a:p>
        </p:txBody>
      </p:sp>
      <p:sp>
        <p:nvSpPr>
          <p:cNvPr id="32" name="Shape 26"/>
          <p:cNvSpPr/>
          <p:nvPr/>
        </p:nvSpPr>
        <p:spPr>
          <a:xfrm>
            <a:off x="9756648" y="1508760"/>
            <a:ext cx="2139696" cy="48006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8B95A6">
                <a:alpha val="2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10515600" y="1801368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34" name="Image 4" descr="/home/claude/icons/sysadm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6433" y="1882201"/>
            <a:ext cx="460126" cy="46012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884664" y="2606040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Administrator</a:t>
            </a:r>
            <a:endParaRPr lang="en-US" sz="1250" dirty="0"/>
          </a:p>
        </p:txBody>
      </p:sp>
      <p:sp>
        <p:nvSpPr>
          <p:cNvPr id="36" name="Text 29"/>
          <p:cNvSpPr/>
          <p:nvPr/>
        </p:nvSpPr>
        <p:spPr>
          <a:xfrm>
            <a:off x="9884664" y="3172968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10213848" y="3520440"/>
            <a:ext cx="1225296" cy="0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9921240" y="3657600"/>
            <a:ext cx="18105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3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controls, audit logs, integration health monitoring.</a:t>
            </a:r>
            <a:endParaRPr lang="en-US" sz="1030" dirty="0"/>
          </a:p>
        </p:txBody>
      </p:sp>
      <p:sp>
        <p:nvSpPr>
          <p:cNvPr id="39" name="Text 3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SIH26101 · Adaptive Learning &amp; Assessment Platform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01 · COMPETENCY GAPS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Diagnostic Engine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44752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44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41832" y="1389888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Competency Framework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41832" y="1673352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× proficiency levels × roles, editable by admins (FR-1.1).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386584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386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41832" y="2331720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Difficulty Diagnostics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41832" y="2615184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difficulty adapts to real-time responses via adaptive branching / IRT-lite logic (FR-1.2).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328416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328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41832" y="3273552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Per-Competency Proficiency Scoring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41832" y="3557016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scores compared against role-based target thresholds (FR-1.3).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270248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270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41832" y="4215384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Skill-Gap Heatmaps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41832" y="4498848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gap representation per individual and aggregated by role/department (FR-1.4).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5212080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5212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41832" y="5157216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Re-Assessment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41832" y="5440680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proficiency drift and improvement over time (FR-1.5).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178040" y="1417320"/>
            <a:ext cx="4480560" cy="4846320"/>
          </a:xfrm>
          <a:prstGeom prst="roundRect">
            <a:avLst>
              <a:gd name="adj" fmla="val 2041"/>
            </a:avLst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7452360" y="16733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SKILL-GAP HEATMAP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52360" y="19476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Proficiency by competency area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52360" y="2423160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Design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9006840" y="2423160"/>
            <a:ext cx="411480" cy="502920"/>
          </a:xfrm>
          <a:prstGeom prst="roundRect">
            <a:avLst>
              <a:gd name="adj" fmla="val 6667"/>
            </a:avLst>
          </a:prstGeom>
          <a:solidFill>
            <a:srgbClr val="E3B23C"/>
          </a:solidFill>
          <a:ln/>
        </p:spPr>
      </p:sp>
      <p:sp>
        <p:nvSpPr>
          <p:cNvPr id="29" name="Shape 27"/>
          <p:cNvSpPr/>
          <p:nvPr/>
        </p:nvSpPr>
        <p:spPr>
          <a:xfrm>
            <a:off x="9482328" y="2423160"/>
            <a:ext cx="411480" cy="502920"/>
          </a:xfrm>
          <a:prstGeom prst="roundRect">
            <a:avLst>
              <a:gd name="adj" fmla="val 6667"/>
            </a:avLst>
          </a:prstGeom>
          <a:solidFill>
            <a:srgbClr val="C9622B"/>
          </a:solidFill>
          <a:ln/>
        </p:spPr>
      </p:sp>
      <p:sp>
        <p:nvSpPr>
          <p:cNvPr id="30" name="Shape 28"/>
          <p:cNvSpPr/>
          <p:nvPr/>
        </p:nvSpPr>
        <p:spPr>
          <a:xfrm>
            <a:off x="9957816" y="2423160"/>
            <a:ext cx="411480" cy="502920"/>
          </a:xfrm>
          <a:prstGeom prst="roundRect">
            <a:avLst>
              <a:gd name="adj" fmla="val 6667"/>
            </a:avLst>
          </a:prstGeom>
          <a:solidFill>
            <a:srgbClr val="E3B23C"/>
          </a:solidFill>
          <a:ln/>
        </p:spPr>
      </p:sp>
      <p:sp>
        <p:nvSpPr>
          <p:cNvPr id="31" name="Shape 29"/>
          <p:cNvSpPr/>
          <p:nvPr/>
        </p:nvSpPr>
        <p:spPr>
          <a:xfrm>
            <a:off x="10433304" y="2423160"/>
            <a:ext cx="411480" cy="502920"/>
          </a:xfrm>
          <a:prstGeom prst="roundRect">
            <a:avLst>
              <a:gd name="adj" fmla="val 6667"/>
            </a:avLst>
          </a:prstGeom>
          <a:solidFill>
            <a:srgbClr val="3E8E5A"/>
          </a:solidFill>
          <a:ln/>
        </p:spPr>
      </p:sp>
      <p:sp>
        <p:nvSpPr>
          <p:cNvPr id="32" name="Shape 30"/>
          <p:cNvSpPr/>
          <p:nvPr/>
        </p:nvSpPr>
        <p:spPr>
          <a:xfrm>
            <a:off x="10908792" y="2423160"/>
            <a:ext cx="411480" cy="502920"/>
          </a:xfrm>
          <a:prstGeom prst="roundRect">
            <a:avLst>
              <a:gd name="adj" fmla="val 6667"/>
            </a:avLst>
          </a:prstGeom>
          <a:solidFill>
            <a:srgbClr val="C9622B"/>
          </a:solidFill>
          <a:ln/>
        </p:spPr>
      </p:sp>
      <p:sp>
        <p:nvSpPr>
          <p:cNvPr id="33" name="Text 31"/>
          <p:cNvSpPr/>
          <p:nvPr/>
        </p:nvSpPr>
        <p:spPr>
          <a:xfrm>
            <a:off x="7452360" y="299008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Methods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9006840" y="2990088"/>
            <a:ext cx="411480" cy="502920"/>
          </a:xfrm>
          <a:prstGeom prst="roundRect">
            <a:avLst>
              <a:gd name="adj" fmla="val 6667"/>
            </a:avLst>
          </a:prstGeom>
          <a:solidFill>
            <a:srgbClr val="C9622B"/>
          </a:solidFill>
          <a:ln/>
        </p:spPr>
      </p:sp>
      <p:sp>
        <p:nvSpPr>
          <p:cNvPr id="35" name="Shape 33"/>
          <p:cNvSpPr/>
          <p:nvPr/>
        </p:nvSpPr>
        <p:spPr>
          <a:xfrm>
            <a:off x="9482328" y="2990088"/>
            <a:ext cx="411480" cy="502920"/>
          </a:xfrm>
          <a:prstGeom prst="roundRect">
            <a:avLst>
              <a:gd name="adj" fmla="val 6667"/>
            </a:avLst>
          </a:prstGeom>
          <a:solidFill>
            <a:srgbClr val="8C2F39"/>
          </a:solidFill>
          <a:ln/>
        </p:spPr>
      </p:sp>
      <p:sp>
        <p:nvSpPr>
          <p:cNvPr id="36" name="Shape 34"/>
          <p:cNvSpPr/>
          <p:nvPr/>
        </p:nvSpPr>
        <p:spPr>
          <a:xfrm>
            <a:off x="9957816" y="2990088"/>
            <a:ext cx="411480" cy="502920"/>
          </a:xfrm>
          <a:prstGeom prst="roundRect">
            <a:avLst>
              <a:gd name="adj" fmla="val 6667"/>
            </a:avLst>
          </a:prstGeom>
          <a:solidFill>
            <a:srgbClr val="C9622B"/>
          </a:solidFill>
          <a:ln/>
        </p:spPr>
      </p:sp>
      <p:sp>
        <p:nvSpPr>
          <p:cNvPr id="37" name="Shape 35"/>
          <p:cNvSpPr/>
          <p:nvPr/>
        </p:nvSpPr>
        <p:spPr>
          <a:xfrm>
            <a:off x="10433304" y="2990088"/>
            <a:ext cx="411480" cy="502920"/>
          </a:xfrm>
          <a:prstGeom prst="roundRect">
            <a:avLst>
              <a:gd name="adj" fmla="val 6667"/>
            </a:avLst>
          </a:prstGeom>
          <a:solidFill>
            <a:srgbClr val="C9622B"/>
          </a:solidFill>
          <a:ln/>
        </p:spPr>
      </p:sp>
      <p:sp>
        <p:nvSpPr>
          <p:cNvPr id="38" name="Shape 36"/>
          <p:cNvSpPr/>
          <p:nvPr/>
        </p:nvSpPr>
        <p:spPr>
          <a:xfrm>
            <a:off x="10908792" y="2990088"/>
            <a:ext cx="411480" cy="502920"/>
          </a:xfrm>
          <a:prstGeom prst="roundRect">
            <a:avLst>
              <a:gd name="adj" fmla="val 6667"/>
            </a:avLst>
          </a:prstGeom>
          <a:solidFill>
            <a:srgbClr val="8C2F39"/>
          </a:solidFill>
          <a:ln/>
        </p:spPr>
      </p:sp>
      <p:sp>
        <p:nvSpPr>
          <p:cNvPr id="39" name="Text 37"/>
          <p:cNvSpPr/>
          <p:nvPr/>
        </p:nvSpPr>
        <p:spPr>
          <a:xfrm>
            <a:off x="7452360" y="355701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Checks</a:t>
            </a:r>
            <a:endParaRPr lang="en-US" sz="930" dirty="0"/>
          </a:p>
        </p:txBody>
      </p:sp>
      <p:sp>
        <p:nvSpPr>
          <p:cNvPr id="40" name="Shape 38"/>
          <p:cNvSpPr/>
          <p:nvPr/>
        </p:nvSpPr>
        <p:spPr>
          <a:xfrm>
            <a:off x="9006840" y="3557016"/>
            <a:ext cx="411480" cy="502920"/>
          </a:xfrm>
          <a:prstGeom prst="roundRect">
            <a:avLst>
              <a:gd name="adj" fmla="val 6667"/>
            </a:avLst>
          </a:prstGeom>
          <a:solidFill>
            <a:srgbClr val="3E8E5A"/>
          </a:solidFill>
          <a:ln/>
        </p:spPr>
      </p:sp>
      <p:sp>
        <p:nvSpPr>
          <p:cNvPr id="41" name="Shape 39"/>
          <p:cNvSpPr/>
          <p:nvPr/>
        </p:nvSpPr>
        <p:spPr>
          <a:xfrm>
            <a:off x="9482328" y="3557016"/>
            <a:ext cx="411480" cy="502920"/>
          </a:xfrm>
          <a:prstGeom prst="roundRect">
            <a:avLst>
              <a:gd name="adj" fmla="val 6667"/>
            </a:avLst>
          </a:prstGeom>
          <a:solidFill>
            <a:srgbClr val="E3B23C"/>
          </a:solidFill>
          <a:ln/>
        </p:spPr>
      </p:sp>
      <p:sp>
        <p:nvSpPr>
          <p:cNvPr id="42" name="Shape 40"/>
          <p:cNvSpPr/>
          <p:nvPr/>
        </p:nvSpPr>
        <p:spPr>
          <a:xfrm>
            <a:off x="9957816" y="3557016"/>
            <a:ext cx="411480" cy="502920"/>
          </a:xfrm>
          <a:prstGeom prst="roundRect">
            <a:avLst>
              <a:gd name="adj" fmla="val 6667"/>
            </a:avLst>
          </a:prstGeom>
          <a:solidFill>
            <a:srgbClr val="3E8E5A"/>
          </a:solidFill>
          <a:ln/>
        </p:spPr>
      </p:sp>
      <p:sp>
        <p:nvSpPr>
          <p:cNvPr id="43" name="Shape 41"/>
          <p:cNvSpPr/>
          <p:nvPr/>
        </p:nvSpPr>
        <p:spPr>
          <a:xfrm>
            <a:off x="10433304" y="3557016"/>
            <a:ext cx="411480" cy="502920"/>
          </a:xfrm>
          <a:prstGeom prst="roundRect">
            <a:avLst>
              <a:gd name="adj" fmla="val 6667"/>
            </a:avLst>
          </a:prstGeom>
          <a:solidFill>
            <a:srgbClr val="3E8E5A"/>
          </a:solidFill>
          <a:ln/>
        </p:spPr>
      </p:sp>
      <p:sp>
        <p:nvSpPr>
          <p:cNvPr id="44" name="Shape 42"/>
          <p:cNvSpPr/>
          <p:nvPr/>
        </p:nvSpPr>
        <p:spPr>
          <a:xfrm>
            <a:off x="10908792" y="3557016"/>
            <a:ext cx="411480" cy="502920"/>
          </a:xfrm>
          <a:prstGeom prst="roundRect">
            <a:avLst>
              <a:gd name="adj" fmla="val 6667"/>
            </a:avLst>
          </a:prstGeom>
          <a:solidFill>
            <a:srgbClr val="E3B23C"/>
          </a:solidFill>
          <a:ln/>
        </p:spPr>
      </p:sp>
      <p:sp>
        <p:nvSpPr>
          <p:cNvPr id="45" name="Text 43"/>
          <p:cNvSpPr/>
          <p:nvPr/>
        </p:nvSpPr>
        <p:spPr>
          <a:xfrm>
            <a:off x="7452360" y="4123944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Tools</a:t>
            </a:r>
            <a:endParaRPr lang="en-US" sz="930" dirty="0"/>
          </a:p>
        </p:txBody>
      </p:sp>
      <p:sp>
        <p:nvSpPr>
          <p:cNvPr id="46" name="Shape 44"/>
          <p:cNvSpPr/>
          <p:nvPr/>
        </p:nvSpPr>
        <p:spPr>
          <a:xfrm>
            <a:off x="9006840" y="4123944"/>
            <a:ext cx="411480" cy="502920"/>
          </a:xfrm>
          <a:prstGeom prst="roundRect">
            <a:avLst>
              <a:gd name="adj" fmla="val 6667"/>
            </a:avLst>
          </a:prstGeom>
          <a:solidFill>
            <a:srgbClr val="8C2F39"/>
          </a:solidFill>
          <a:ln/>
        </p:spPr>
      </p:sp>
      <p:sp>
        <p:nvSpPr>
          <p:cNvPr id="47" name="Shape 45"/>
          <p:cNvSpPr/>
          <p:nvPr/>
        </p:nvSpPr>
        <p:spPr>
          <a:xfrm>
            <a:off x="9482328" y="4123944"/>
            <a:ext cx="411480" cy="502920"/>
          </a:xfrm>
          <a:prstGeom prst="roundRect">
            <a:avLst>
              <a:gd name="adj" fmla="val 6667"/>
            </a:avLst>
          </a:prstGeom>
          <a:solidFill>
            <a:srgbClr val="8C2F39"/>
          </a:solidFill>
          <a:ln/>
        </p:spPr>
      </p:sp>
      <p:sp>
        <p:nvSpPr>
          <p:cNvPr id="48" name="Shape 46"/>
          <p:cNvSpPr/>
          <p:nvPr/>
        </p:nvSpPr>
        <p:spPr>
          <a:xfrm>
            <a:off x="9957816" y="4123944"/>
            <a:ext cx="411480" cy="502920"/>
          </a:xfrm>
          <a:prstGeom prst="roundRect">
            <a:avLst>
              <a:gd name="adj" fmla="val 6667"/>
            </a:avLst>
          </a:prstGeom>
          <a:solidFill>
            <a:srgbClr val="C9622B"/>
          </a:solidFill>
          <a:ln/>
        </p:spPr>
      </p:sp>
      <p:sp>
        <p:nvSpPr>
          <p:cNvPr id="49" name="Shape 47"/>
          <p:cNvSpPr/>
          <p:nvPr/>
        </p:nvSpPr>
        <p:spPr>
          <a:xfrm>
            <a:off x="10433304" y="4123944"/>
            <a:ext cx="411480" cy="502920"/>
          </a:xfrm>
          <a:prstGeom prst="roundRect">
            <a:avLst>
              <a:gd name="adj" fmla="val 6667"/>
            </a:avLst>
          </a:prstGeom>
          <a:solidFill>
            <a:srgbClr val="8C2F39"/>
          </a:solidFill>
          <a:ln/>
        </p:spPr>
      </p:sp>
      <p:sp>
        <p:nvSpPr>
          <p:cNvPr id="50" name="Shape 48"/>
          <p:cNvSpPr/>
          <p:nvPr/>
        </p:nvSpPr>
        <p:spPr>
          <a:xfrm>
            <a:off x="10908792" y="4123944"/>
            <a:ext cx="411480" cy="502920"/>
          </a:xfrm>
          <a:prstGeom prst="roundRect">
            <a:avLst>
              <a:gd name="adj" fmla="val 6667"/>
            </a:avLst>
          </a:prstGeom>
          <a:solidFill>
            <a:srgbClr val="C9622B"/>
          </a:solidFill>
          <a:ln/>
        </p:spPr>
      </p:sp>
      <p:sp>
        <p:nvSpPr>
          <p:cNvPr id="51" name="Text 49"/>
          <p:cNvSpPr/>
          <p:nvPr/>
        </p:nvSpPr>
        <p:spPr>
          <a:xfrm>
            <a:off x="7452360" y="4690872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Writing</a:t>
            </a:r>
            <a:endParaRPr lang="en-US" sz="930" dirty="0"/>
          </a:p>
        </p:txBody>
      </p:sp>
      <p:sp>
        <p:nvSpPr>
          <p:cNvPr id="52" name="Shape 50"/>
          <p:cNvSpPr/>
          <p:nvPr/>
        </p:nvSpPr>
        <p:spPr>
          <a:xfrm>
            <a:off x="9006840" y="4690872"/>
            <a:ext cx="411480" cy="502920"/>
          </a:xfrm>
          <a:prstGeom prst="roundRect">
            <a:avLst>
              <a:gd name="adj" fmla="val 6667"/>
            </a:avLst>
          </a:prstGeom>
          <a:solidFill>
            <a:srgbClr val="E3B23C"/>
          </a:solidFill>
          <a:ln/>
        </p:spPr>
      </p:sp>
      <p:sp>
        <p:nvSpPr>
          <p:cNvPr id="53" name="Shape 51"/>
          <p:cNvSpPr/>
          <p:nvPr/>
        </p:nvSpPr>
        <p:spPr>
          <a:xfrm>
            <a:off x="9482328" y="4690872"/>
            <a:ext cx="411480" cy="502920"/>
          </a:xfrm>
          <a:prstGeom prst="roundRect">
            <a:avLst>
              <a:gd name="adj" fmla="val 6667"/>
            </a:avLst>
          </a:prstGeom>
          <a:solidFill>
            <a:srgbClr val="3E8E5A"/>
          </a:solidFill>
          <a:ln/>
        </p:spPr>
      </p:sp>
      <p:sp>
        <p:nvSpPr>
          <p:cNvPr id="54" name="Shape 52"/>
          <p:cNvSpPr/>
          <p:nvPr/>
        </p:nvSpPr>
        <p:spPr>
          <a:xfrm>
            <a:off x="9957816" y="4690872"/>
            <a:ext cx="411480" cy="502920"/>
          </a:xfrm>
          <a:prstGeom prst="roundRect">
            <a:avLst>
              <a:gd name="adj" fmla="val 6667"/>
            </a:avLst>
          </a:prstGeom>
          <a:solidFill>
            <a:srgbClr val="E3B23C"/>
          </a:solidFill>
          <a:ln/>
        </p:spPr>
      </p:sp>
      <p:sp>
        <p:nvSpPr>
          <p:cNvPr id="55" name="Shape 53"/>
          <p:cNvSpPr/>
          <p:nvPr/>
        </p:nvSpPr>
        <p:spPr>
          <a:xfrm>
            <a:off x="10433304" y="4690872"/>
            <a:ext cx="411480" cy="502920"/>
          </a:xfrm>
          <a:prstGeom prst="roundRect">
            <a:avLst>
              <a:gd name="adj" fmla="val 6667"/>
            </a:avLst>
          </a:prstGeom>
          <a:solidFill>
            <a:srgbClr val="C9622B"/>
          </a:solidFill>
          <a:ln/>
        </p:spPr>
      </p:sp>
      <p:sp>
        <p:nvSpPr>
          <p:cNvPr id="56" name="Shape 54"/>
          <p:cNvSpPr/>
          <p:nvPr/>
        </p:nvSpPr>
        <p:spPr>
          <a:xfrm>
            <a:off x="10908792" y="4690872"/>
            <a:ext cx="411480" cy="502920"/>
          </a:xfrm>
          <a:prstGeom prst="roundRect">
            <a:avLst>
              <a:gd name="adj" fmla="val 6667"/>
            </a:avLst>
          </a:prstGeom>
          <a:solidFill>
            <a:srgbClr val="E3B23C"/>
          </a:solidFill>
          <a:ln/>
        </p:spPr>
      </p:sp>
      <p:sp>
        <p:nvSpPr>
          <p:cNvPr id="57" name="Text 55"/>
          <p:cNvSpPr/>
          <p:nvPr/>
        </p:nvSpPr>
        <p:spPr>
          <a:xfrm>
            <a:off x="7452360" y="5760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red = larger gap  ·  Green = target proficiency met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SIH26101 · Adaptive Learning &amp; Assessment Platform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02 · NLP / LLM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Quiz &amp; Assessment Generation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Retrieval-Augmented Generation (RAG) pipeline turns dense official statistical documents into calibrated, source-cited assessment items — with mandatory human-in-the-loop review.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272491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8B95A6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22376" y="2368296"/>
            <a:ext cx="530352" cy="530352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7" name="Image 0" descr="/home/claude/icons/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322" y="2437242"/>
            <a:ext cx="392460" cy="3924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36976" y="3314700"/>
            <a:ext cx="146304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  <a:tailEnd type="triangle"/>
          </a:ln>
        </p:spPr>
      </p:sp>
      <p:sp>
        <p:nvSpPr>
          <p:cNvPr id="9" name="Text 6"/>
          <p:cNvSpPr/>
          <p:nvPr/>
        </p:nvSpPr>
        <p:spPr>
          <a:xfrm>
            <a:off x="704088" y="3044952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&amp; Ingest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04088" y="3410712"/>
            <a:ext cx="2322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2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Coordinators upload PDF/DOCX manuals, guidelines &amp; survey handbooks (FR-3.1).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3392424" y="2148840"/>
            <a:ext cx="272491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8B95A6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11880" y="2368296"/>
            <a:ext cx="530352" cy="530352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3" name="Image 1" descr="/home/claude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826" y="2437242"/>
            <a:ext cx="392460" cy="39246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126480" y="3314700"/>
            <a:ext cx="146304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  <a:tailEnd type="triangle"/>
          </a:ln>
        </p:spPr>
      </p:sp>
      <p:sp>
        <p:nvSpPr>
          <p:cNvPr id="15" name="Text 11"/>
          <p:cNvSpPr/>
          <p:nvPr/>
        </p:nvSpPr>
        <p:spPr>
          <a:xfrm>
            <a:off x="3593592" y="3044952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Chunk, Embed, Index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593592" y="3410712"/>
            <a:ext cx="2322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2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are chunked, embedded, and indexed into a vector database (FR-3.2).</a:t>
            </a:r>
            <a:endParaRPr lang="en-US" sz="1020" dirty="0"/>
          </a:p>
        </p:txBody>
      </p:sp>
      <p:sp>
        <p:nvSpPr>
          <p:cNvPr id="17" name="Shape 13"/>
          <p:cNvSpPr/>
          <p:nvPr/>
        </p:nvSpPr>
        <p:spPr>
          <a:xfrm>
            <a:off x="6281928" y="2148840"/>
            <a:ext cx="272491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8B95A6">
                <a:alpha val="2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501384" y="2368296"/>
            <a:ext cx="530352" cy="530352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9" name="Image 2" descr="/home/claude/icons/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330" y="2437242"/>
            <a:ext cx="392460" cy="39246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9015984" y="3314700"/>
            <a:ext cx="146304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  <a:tailEnd type="triangle"/>
          </a:ln>
        </p:spPr>
      </p:sp>
      <p:sp>
        <p:nvSpPr>
          <p:cNvPr id="21" name="Text 16"/>
          <p:cNvSpPr/>
          <p:nvPr/>
        </p:nvSpPr>
        <p:spPr>
          <a:xfrm>
            <a:off x="6483096" y="3044952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Items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483096" y="3410712"/>
            <a:ext cx="2322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2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MCQs w/ distractors, scenario questions, case studies — each with answer key, difficulty rating &amp; source citation (FR-3.3, FR-3.4).</a:t>
            </a:r>
            <a:endParaRPr lang="en-US" sz="1020" dirty="0"/>
          </a:p>
        </p:txBody>
      </p:sp>
      <p:sp>
        <p:nvSpPr>
          <p:cNvPr id="23" name="Shape 18"/>
          <p:cNvSpPr/>
          <p:nvPr/>
        </p:nvSpPr>
        <p:spPr>
          <a:xfrm>
            <a:off x="9171432" y="2148840"/>
            <a:ext cx="272491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8B95A6">
                <a:alpha val="2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390888" y="2368296"/>
            <a:ext cx="530352" cy="530352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5" name="Image 3" descr="/home/claude/icons/clip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9834" y="2437242"/>
            <a:ext cx="392460" cy="3924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372600" y="3044952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Review Queue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9372600" y="3410712"/>
            <a:ext cx="2322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2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approval before publishing; low-confidence content is flagged (FR-3.5, FR-3.6).</a:t>
            </a:r>
            <a:endParaRPr lang="en-US" sz="1020" dirty="0"/>
          </a:p>
        </p:txBody>
      </p:sp>
      <p:sp>
        <p:nvSpPr>
          <p:cNvPr id="28" name="Shape 22"/>
          <p:cNvSpPr/>
          <p:nvPr/>
        </p:nvSpPr>
        <p:spPr>
          <a:xfrm>
            <a:off x="502920" y="4709160"/>
            <a:ext cx="3639312" cy="1417320"/>
          </a:xfrm>
          <a:prstGeom prst="roundRect">
            <a:avLst>
              <a:gd name="adj" fmla="val 5806"/>
            </a:avLst>
          </a:prstGeom>
          <a:solidFill>
            <a:srgbClr val="1B2A4A"/>
          </a:solidFill>
          <a:ln/>
        </p:spPr>
      </p:sp>
      <p:sp>
        <p:nvSpPr>
          <p:cNvPr id="29" name="Text 23"/>
          <p:cNvSpPr/>
          <p:nvPr/>
        </p:nvSpPr>
        <p:spPr>
          <a:xfrm>
            <a:off x="731520" y="4873752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REGENERATION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731520" y="5184648"/>
            <a:ext cx="3182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Edit/regenerate a single question without reprocessing the whole document (FR-3.7)</a:t>
            </a:r>
            <a:endParaRPr lang="en-US" sz="1080" dirty="0"/>
          </a:p>
        </p:txBody>
      </p:sp>
      <p:sp>
        <p:nvSpPr>
          <p:cNvPr id="31" name="Shape 25"/>
          <p:cNvSpPr/>
          <p:nvPr/>
        </p:nvSpPr>
        <p:spPr>
          <a:xfrm>
            <a:off x="4325112" y="4709160"/>
            <a:ext cx="3639312" cy="1417320"/>
          </a:xfrm>
          <a:prstGeom prst="roundRect">
            <a:avLst>
              <a:gd name="adj" fmla="val 5806"/>
            </a:avLst>
          </a:prstGeom>
          <a:solidFill>
            <a:srgbClr val="1B2A4A"/>
          </a:solidFill>
          <a:ln/>
        </p:spPr>
      </p:sp>
      <p:sp>
        <p:nvSpPr>
          <p:cNvPr id="32" name="Text 26"/>
          <p:cNvSpPr/>
          <p:nvPr/>
        </p:nvSpPr>
        <p:spPr>
          <a:xfrm>
            <a:off x="4553712" y="4873752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 TAGGING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4553712" y="5184648"/>
            <a:ext cx="3182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questions tagged to competency areas for diagnostic use (FR-3.8)</a:t>
            </a:r>
            <a:endParaRPr lang="en-US" sz="1080" dirty="0"/>
          </a:p>
        </p:txBody>
      </p:sp>
      <p:sp>
        <p:nvSpPr>
          <p:cNvPr id="34" name="Shape 28"/>
          <p:cNvSpPr/>
          <p:nvPr/>
        </p:nvSpPr>
        <p:spPr>
          <a:xfrm>
            <a:off x="8147304" y="4709160"/>
            <a:ext cx="3639312" cy="1417320"/>
          </a:xfrm>
          <a:prstGeom prst="roundRect">
            <a:avLst>
              <a:gd name="adj" fmla="val 5806"/>
            </a:avLst>
          </a:prstGeom>
          <a:solidFill>
            <a:srgbClr val="1B2A4A"/>
          </a:solidFill>
          <a:ln/>
        </p:spPr>
      </p:sp>
      <p:sp>
        <p:nvSpPr>
          <p:cNvPr id="35" name="Text 29"/>
          <p:cNvSpPr/>
          <p:nvPr/>
        </p:nvSpPr>
        <p:spPr>
          <a:xfrm>
            <a:off x="8375904" y="4873752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</a:t>
            </a:r>
            <a:endParaRPr lang="en-US" sz="1050" dirty="0"/>
          </a:p>
        </p:txBody>
      </p:sp>
      <p:sp>
        <p:nvSpPr>
          <p:cNvPr id="36" name="Text 30"/>
          <p:cNvSpPr/>
          <p:nvPr/>
        </p:nvSpPr>
        <p:spPr>
          <a:xfrm>
            <a:off x="8375904" y="5184648"/>
            <a:ext cx="3182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carries a traceable source citation — document + section</a:t>
            </a:r>
            <a:endParaRPr lang="en-US" sz="1080" dirty="0"/>
          </a:p>
        </p:txBody>
      </p:sp>
      <p:sp>
        <p:nvSpPr>
          <p:cNvPr id="37" name="Text 3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SIH26101 · Adaptive Learning &amp; Assessment Platform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03 · IGOT KARMAYOGI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 Course Recommendations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integrates with — not replaces — iGOT Karmayogi, India's civil-servant capacity-building LMS, closing the loop between diagnosis, learning, and re-assessment.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671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1536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10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Gaps</a:t>
            </a:r>
            <a:endParaRPr lang="en-US" sz="1060" dirty="0"/>
          </a:p>
        </p:txBody>
      </p:sp>
      <p:sp>
        <p:nvSpPr>
          <p:cNvPr id="8" name="Text 6"/>
          <p:cNvSpPr/>
          <p:nvPr/>
        </p:nvSpPr>
        <p:spPr>
          <a:xfrm>
            <a:off x="2313432" y="2560320"/>
            <a:ext cx="1325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46020" y="205740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2583180" y="21671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83180" y="2560320"/>
            <a:ext cx="1536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iGOT</a:t>
            </a:r>
            <a:endParaRPr lang="en-US" sz="10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Catalog</a:t>
            </a:r>
            <a:endParaRPr lang="en-US" sz="1060" dirty="0"/>
          </a:p>
        </p:txBody>
      </p:sp>
      <p:sp>
        <p:nvSpPr>
          <p:cNvPr id="12" name="Text 10"/>
          <p:cNvSpPr/>
          <p:nvPr/>
        </p:nvSpPr>
        <p:spPr>
          <a:xfrm>
            <a:off x="4256532" y="2560320"/>
            <a:ext cx="1325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89120" y="205740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21671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26280" y="2560320"/>
            <a:ext cx="1536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Course</a:t>
            </a:r>
            <a:endParaRPr lang="en-US" sz="10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60" dirty="0"/>
          </a:p>
        </p:txBody>
      </p:sp>
      <p:sp>
        <p:nvSpPr>
          <p:cNvPr id="16" name="Text 14"/>
          <p:cNvSpPr/>
          <p:nvPr/>
        </p:nvSpPr>
        <p:spPr>
          <a:xfrm>
            <a:off x="6199632" y="2560320"/>
            <a:ext cx="1325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32220" y="205740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E7C86"/>
          </a:solidFill>
          <a:ln/>
        </p:spPr>
      </p:sp>
      <p:sp>
        <p:nvSpPr>
          <p:cNvPr id="18" name="Text 16"/>
          <p:cNvSpPr/>
          <p:nvPr/>
        </p:nvSpPr>
        <p:spPr>
          <a:xfrm>
            <a:off x="6469380" y="21671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69380" y="2560320"/>
            <a:ext cx="1536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Accepts /</a:t>
            </a:r>
            <a:endParaRPr lang="en-US" sz="10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Defers / Feedback</a:t>
            </a:r>
            <a:endParaRPr lang="en-US" sz="1060" dirty="0"/>
          </a:p>
        </p:txBody>
      </p:sp>
      <p:sp>
        <p:nvSpPr>
          <p:cNvPr id="20" name="Text 18"/>
          <p:cNvSpPr/>
          <p:nvPr/>
        </p:nvSpPr>
        <p:spPr>
          <a:xfrm>
            <a:off x="8142732" y="2560320"/>
            <a:ext cx="1325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75320" y="205740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0" y="21671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0" y="2560320"/>
            <a:ext cx="1536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Can</a:t>
            </a:r>
            <a:endParaRPr lang="en-US" sz="10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&amp; Assign</a:t>
            </a:r>
            <a:endParaRPr lang="en-US" sz="1060" dirty="0"/>
          </a:p>
        </p:txBody>
      </p:sp>
      <p:sp>
        <p:nvSpPr>
          <p:cNvPr id="24" name="Text 22"/>
          <p:cNvSpPr/>
          <p:nvPr/>
        </p:nvSpPr>
        <p:spPr>
          <a:xfrm>
            <a:off x="10085832" y="2560320"/>
            <a:ext cx="1325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218420" y="205740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E7C86"/>
          </a:solidFill>
          <a:ln/>
        </p:spPr>
      </p:sp>
      <p:sp>
        <p:nvSpPr>
          <p:cNvPr id="26" name="Text 24"/>
          <p:cNvSpPr/>
          <p:nvPr/>
        </p:nvSpPr>
        <p:spPr>
          <a:xfrm>
            <a:off x="10355580" y="21671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355580" y="2560320"/>
            <a:ext cx="1536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Synced →</a:t>
            </a:r>
            <a:endParaRPr lang="en-US" sz="10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Re-Assessment</a:t>
            </a:r>
            <a:endParaRPr lang="en-US" sz="1060" dirty="0"/>
          </a:p>
        </p:txBody>
      </p:sp>
      <p:sp>
        <p:nvSpPr>
          <p:cNvPr id="28" name="Shape 26"/>
          <p:cNvSpPr/>
          <p:nvPr/>
        </p:nvSpPr>
        <p:spPr>
          <a:xfrm>
            <a:off x="502920" y="3849624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" y="372160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FR-2.1 — Integrates with iGOT Karmayogi course catalog via API (or synced metadata store)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" y="4288536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" y="416052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FR-2.2 — Ranked recommendations per learner using skill gaps, role requirements &amp; learning behavior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2920" y="4727448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3" name="Text 31"/>
          <p:cNvSpPr/>
          <p:nvPr/>
        </p:nvSpPr>
        <p:spPr>
          <a:xfrm>
            <a:off x="749808" y="459943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FR-2.3 — Learners accept / defer / give feedback, refining the recommendation model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02920" y="5166360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5" name="Text 33"/>
          <p:cNvSpPr/>
          <p:nvPr/>
        </p:nvSpPr>
        <p:spPr>
          <a:xfrm>
            <a:off x="749808" y="503834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FR-2.4 — Coordinators can manually override to mandate specific courses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02920" y="560527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7" name="Text 35"/>
          <p:cNvSpPr/>
          <p:nvPr/>
        </p:nvSpPr>
        <p:spPr>
          <a:xfrm>
            <a:off x="749808" y="54772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FR-2.5 — Enrollment/completion tracked via iGOT integration, feeding re-assessment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SIH26101 · Adaptive Learning &amp; Assessment Platform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04 · VISIBILITY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Analytics Dashboards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593592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8B95A6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673352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/home/claude/icons/lea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653" y="1747053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" y="237744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Dashboard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58952" y="2770632"/>
            <a:ext cx="3081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history, scores, skill-gap trend, recommended &amp; enrolled courses (FR-4.1).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25112" y="1417320"/>
            <a:ext cx="3593592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8B95A6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81144" y="1673352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1" name="Image 1" descr="/home/claude/icons/coordina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845" y="1747053"/>
            <a:ext cx="419527" cy="419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81144" y="237744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Dashboard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81144" y="2770632"/>
            <a:ext cx="3081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completion rates, score distributions, at-risk learner flags (FR-4.2).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47304" y="1417320"/>
            <a:ext cx="3593592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8B95A6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03336" y="1673352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6" name="Image 2" descr="/home/claude/icons/institu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037" y="1747053"/>
            <a:ext cx="419527" cy="419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03336" y="237744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Dashboard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403336" y="2770632"/>
            <a:ext cx="3081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National/state/department readiness scores, competency heatmaps, training ROI (FR-4.3).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02920" y="4160520"/>
            <a:ext cx="3593592" cy="1600200"/>
          </a:xfrm>
          <a:prstGeom prst="roundRect">
            <a:avLst>
              <a:gd name="adj" fmla="val 5143"/>
            </a:avLst>
          </a:prstGeom>
          <a:solidFill>
            <a:srgbClr val="0E7C86"/>
          </a:solidFill>
          <a:ln/>
        </p:spPr>
      </p:sp>
      <p:sp>
        <p:nvSpPr>
          <p:cNvPr id="20" name="Text 15"/>
          <p:cNvSpPr/>
          <p:nvPr/>
        </p:nvSpPr>
        <p:spPr>
          <a:xfrm>
            <a:off x="731520" y="4343400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EXPORTABLE REPORTS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731520" y="4727448"/>
            <a:ext cx="3136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A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Excel / CSV exports for institutional reporting cycles (FR-4.4)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325112" y="4160520"/>
            <a:ext cx="3593592" cy="1600200"/>
          </a:xfrm>
          <a:prstGeom prst="roundRect">
            <a:avLst>
              <a:gd name="adj" fmla="val 5143"/>
            </a:avLst>
          </a:prstGeom>
          <a:solidFill>
            <a:srgbClr val="0E7C86"/>
          </a:solidFill>
          <a:ln/>
        </p:spPr>
      </p:sp>
      <p:sp>
        <p:nvSpPr>
          <p:cNvPr id="23" name="Text 18"/>
          <p:cNvSpPr/>
          <p:nvPr/>
        </p:nvSpPr>
        <p:spPr>
          <a:xfrm>
            <a:off x="4553712" y="4343400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NEAR-REAL-TIME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4553712" y="4727448"/>
            <a:ext cx="3136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A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update within sub-5-minute latency as activity completes (FR-4.5)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8147304" y="4160520"/>
            <a:ext cx="3593592" cy="1600200"/>
          </a:xfrm>
          <a:prstGeom prst="roundRect">
            <a:avLst>
              <a:gd name="adj" fmla="val 5143"/>
            </a:avLst>
          </a:prstGeom>
          <a:solidFill>
            <a:srgbClr val="0E7C86"/>
          </a:solidFill>
          <a:ln/>
        </p:spPr>
      </p:sp>
      <p:sp>
        <p:nvSpPr>
          <p:cNvPr id="26" name="Text 21"/>
          <p:cNvSpPr/>
          <p:nvPr/>
        </p:nvSpPr>
        <p:spPr>
          <a:xfrm>
            <a:off x="8375904" y="4343400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 FILTERS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8375904" y="4727448"/>
            <a:ext cx="3136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A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region, department, role &amp; time period (FR-4.6)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SIH26101 · Adaptive Learning &amp; Assessment Platform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High-Level Platform Architecture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90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React / Next.js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31520" y="1801368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Portal   ·   Coordinator Console   ·   Admin Dashboard   ·   SME Review UI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095848" y="2194560"/>
            <a:ext cx="0" cy="201168"/>
          </a:xfrm>
          <a:prstGeom prst="line">
            <a:avLst/>
          </a:prstGeom>
          <a:noFill/>
          <a:ln w="19050">
            <a:solidFill>
              <a:srgbClr val="F2A93B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907128" y="241401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GraphQL API (HTTPS)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269748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27407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7706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LAYER — FastAPI / Django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" y="3081528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RBAC   ·   Assessment Engine   ·   Recommendation Service   ·   Document Ingestion   ·   Analytics   ·   Notifications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805940" y="3474720"/>
            <a:ext cx="0" cy="502920"/>
          </a:xfrm>
          <a:prstGeom prst="line">
            <a:avLst/>
          </a:prstGeom>
          <a:noFill/>
          <a:ln w="19050">
            <a:solidFill>
              <a:srgbClr val="F2A93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2920" y="3977640"/>
            <a:ext cx="2606040" cy="914400"/>
          </a:xfrm>
          <a:prstGeom prst="roundRect">
            <a:avLst>
              <a:gd name="adj" fmla="val 7000"/>
            </a:avLst>
          </a:prstGeom>
          <a:solidFill>
            <a:srgbClr val="121D33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4069080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7512" y="4416552"/>
            <a:ext cx="2276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competencies, scores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13148" y="3474720"/>
            <a:ext cx="0" cy="502920"/>
          </a:xfrm>
          <a:prstGeom prst="line">
            <a:avLst/>
          </a:prstGeom>
          <a:noFill/>
          <a:ln w="19050">
            <a:solidFill>
              <a:srgbClr val="F2A93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310128" y="3977640"/>
            <a:ext cx="2606040" cy="914400"/>
          </a:xfrm>
          <a:prstGeom prst="roundRect">
            <a:avLst>
              <a:gd name="adj" fmla="val 7000"/>
            </a:avLst>
          </a:prstGeom>
          <a:solidFill>
            <a:srgbClr val="121D33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4069080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0" y="4416552"/>
            <a:ext cx="2276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Sessions, rate limits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420356" y="3474720"/>
            <a:ext cx="0" cy="502920"/>
          </a:xfrm>
          <a:prstGeom prst="line">
            <a:avLst/>
          </a:prstGeom>
          <a:noFill/>
          <a:ln w="19050">
            <a:solidFill>
              <a:srgbClr val="F2A93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117336" y="3977640"/>
            <a:ext cx="2606040" cy="914400"/>
          </a:xfrm>
          <a:prstGeom prst="roundRect">
            <a:avLst>
              <a:gd name="adj" fmla="val 7000"/>
            </a:avLst>
          </a:prstGeom>
          <a:solidFill>
            <a:srgbClr val="121D33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81928" y="4069080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81928" y="4416552"/>
            <a:ext cx="2276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/ FAISS / Milvus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0227564" y="3474720"/>
            <a:ext cx="0" cy="502920"/>
          </a:xfrm>
          <a:prstGeom prst="line">
            <a:avLst/>
          </a:prstGeom>
          <a:noFill/>
          <a:ln w="19050">
            <a:solidFill>
              <a:srgbClr val="F2A93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924544" y="3977640"/>
            <a:ext cx="2606040" cy="914400"/>
          </a:xfrm>
          <a:prstGeom prst="roundRect">
            <a:avLst>
              <a:gd name="adj" fmla="val 7000"/>
            </a:avLst>
          </a:prstGeom>
          <a:solidFill>
            <a:srgbClr val="121D33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89136" y="4069080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iGOT Karmayogi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089136" y="4416552"/>
            <a:ext cx="2276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catalog API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420356" y="4892040"/>
            <a:ext cx="0" cy="320040"/>
          </a:xfrm>
          <a:prstGeom prst="line">
            <a:avLst/>
          </a:prstGeom>
          <a:noFill/>
          <a:ln w="19050">
            <a:solidFill>
              <a:srgbClr val="F2A93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117336" y="5212080"/>
            <a:ext cx="2606040" cy="777240"/>
          </a:xfrm>
          <a:prstGeom prst="roundRect">
            <a:avLst>
              <a:gd name="adj" fmla="val 8235"/>
            </a:avLst>
          </a:prstGeom>
          <a:solidFill>
            <a:srgbClr val="F2A93B"/>
          </a:solidFill>
          <a:ln/>
        </p:spPr>
      </p:sp>
      <p:sp>
        <p:nvSpPr>
          <p:cNvPr id="30" name="Text 28"/>
          <p:cNvSpPr/>
          <p:nvPr/>
        </p:nvSpPr>
        <p:spPr>
          <a:xfrm>
            <a:off x="6254496" y="52852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/ LLM Layer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54496" y="55778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/ LlamaIndex + LLM (API or OSS)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SIH26101 · Adaptive Learning &amp; Assessment Platform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63931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1618488"/>
            <a:ext cx="438912" cy="438912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6" name="Image 0" descr="/home/claude/icons/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571" y="1675547"/>
            <a:ext cx="324795" cy="3247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16152" y="1563624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216152" y="1783080"/>
            <a:ext cx="2770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Next.js, Tailwind CSS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67512" y="2331720"/>
            <a:ext cx="3310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6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Accessible, bilingual, responsive UI for all personas</a:t>
            </a:r>
            <a:endParaRPr lang="en-US" sz="960" dirty="0"/>
          </a:p>
        </p:txBody>
      </p:sp>
      <p:sp>
        <p:nvSpPr>
          <p:cNvPr id="10" name="Shape 7"/>
          <p:cNvSpPr/>
          <p:nvPr/>
        </p:nvSpPr>
        <p:spPr>
          <a:xfrm>
            <a:off x="4325112" y="1417320"/>
            <a:ext cx="363931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89704" y="1618488"/>
            <a:ext cx="438912" cy="438912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2" name="Image 1" descr="/home/claude/icons/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6763" y="1675547"/>
            <a:ext cx="324795" cy="32479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38344" y="1563624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038344" y="1783080"/>
            <a:ext cx="2770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(FastAPI / Django) or Node.js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489704" y="2331720"/>
            <a:ext cx="3310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6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logic, API orchestration, auth</a:t>
            </a:r>
            <a:endParaRPr lang="en-US" sz="960" dirty="0"/>
          </a:p>
        </p:txBody>
      </p:sp>
      <p:sp>
        <p:nvSpPr>
          <p:cNvPr id="16" name="Shape 12"/>
          <p:cNvSpPr/>
          <p:nvPr/>
        </p:nvSpPr>
        <p:spPr>
          <a:xfrm>
            <a:off x="8147304" y="1417320"/>
            <a:ext cx="363931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11896" y="1618488"/>
            <a:ext cx="438912" cy="438912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8" name="Image 2" descr="/home/claude/icons/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8955" y="1675547"/>
            <a:ext cx="324795" cy="32479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860536" y="1563624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NLP PIPELINE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8860536" y="1783080"/>
            <a:ext cx="2770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/ LlamaIndex (RAG)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311896" y="2331720"/>
            <a:ext cx="3310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6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parsing, chunking, retrieval-augmented generation</a:t>
            </a:r>
            <a:endParaRPr lang="en-US" sz="960" dirty="0"/>
          </a:p>
        </p:txBody>
      </p:sp>
      <p:sp>
        <p:nvSpPr>
          <p:cNvPr id="22" name="Shape 17"/>
          <p:cNvSpPr/>
          <p:nvPr/>
        </p:nvSpPr>
        <p:spPr>
          <a:xfrm>
            <a:off x="502920" y="3063240"/>
            <a:ext cx="363931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67512" y="3264408"/>
            <a:ext cx="438912" cy="438912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4" name="Image 3" descr="/home/claude/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571" y="3321467"/>
            <a:ext cx="324795" cy="32479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216152" y="3209544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1216152" y="3429000"/>
            <a:ext cx="2770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/ FAISS / Milvus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67512" y="3977640"/>
            <a:ext cx="3310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6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indexing of statistical guidelines &amp; manuals</a:t>
            </a:r>
            <a:endParaRPr lang="en-US" sz="960" dirty="0"/>
          </a:p>
        </p:txBody>
      </p:sp>
      <p:sp>
        <p:nvSpPr>
          <p:cNvPr id="28" name="Shape 22"/>
          <p:cNvSpPr/>
          <p:nvPr/>
        </p:nvSpPr>
        <p:spPr>
          <a:xfrm>
            <a:off x="4325112" y="3063240"/>
            <a:ext cx="363931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489704" y="3264408"/>
            <a:ext cx="438912" cy="438912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30" name="Image 4" descr="/home/claude/icons/robo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6763" y="3321467"/>
            <a:ext cx="324795" cy="32479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038344" y="3209544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50" dirty="0"/>
          </a:p>
        </p:txBody>
      </p:sp>
      <p:sp>
        <p:nvSpPr>
          <p:cNvPr id="32" name="Text 25"/>
          <p:cNvSpPr/>
          <p:nvPr/>
        </p:nvSpPr>
        <p:spPr>
          <a:xfrm>
            <a:off x="5038344" y="3429000"/>
            <a:ext cx="2770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(Llama-family) or API-driven (Claude / GPT)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4489704" y="3977640"/>
            <a:ext cx="3310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6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generation, gap analysis, answer explanations</a:t>
            </a:r>
            <a:endParaRPr lang="en-US" sz="960" dirty="0"/>
          </a:p>
        </p:txBody>
      </p:sp>
      <p:sp>
        <p:nvSpPr>
          <p:cNvPr id="34" name="Shape 27"/>
          <p:cNvSpPr/>
          <p:nvPr/>
        </p:nvSpPr>
        <p:spPr>
          <a:xfrm>
            <a:off x="8147304" y="3063240"/>
            <a:ext cx="363931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8311896" y="3264408"/>
            <a:ext cx="438912" cy="438912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36" name="Image 5" descr="/home/claude/icons/lay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8955" y="3321467"/>
            <a:ext cx="324795" cy="324795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860536" y="3209544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DB</a:t>
            </a:r>
            <a:endParaRPr lang="en-US" sz="950" dirty="0"/>
          </a:p>
        </p:txBody>
      </p:sp>
      <p:sp>
        <p:nvSpPr>
          <p:cNvPr id="38" name="Text 30"/>
          <p:cNvSpPr/>
          <p:nvPr/>
        </p:nvSpPr>
        <p:spPr>
          <a:xfrm>
            <a:off x="8860536" y="3429000"/>
            <a:ext cx="2770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8311896" y="3977640"/>
            <a:ext cx="3310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6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profiles, competency framework, scores, course metadata</a:t>
            </a:r>
            <a:endParaRPr lang="en-US" sz="960" dirty="0"/>
          </a:p>
        </p:txBody>
      </p:sp>
      <p:sp>
        <p:nvSpPr>
          <p:cNvPr id="40" name="Shape 32"/>
          <p:cNvSpPr/>
          <p:nvPr/>
        </p:nvSpPr>
        <p:spPr>
          <a:xfrm>
            <a:off x="502920" y="4709160"/>
            <a:ext cx="363931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667512" y="4910328"/>
            <a:ext cx="438912" cy="438912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42" name="Image 6" descr="/home/claude/icons/fla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571" y="4967387"/>
            <a:ext cx="324795" cy="324795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1216152" y="4855464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/ SESSION</a:t>
            </a:r>
            <a:endParaRPr lang="en-US" sz="950" dirty="0"/>
          </a:p>
        </p:txBody>
      </p:sp>
      <p:sp>
        <p:nvSpPr>
          <p:cNvPr id="44" name="Text 35"/>
          <p:cNvSpPr/>
          <p:nvPr/>
        </p:nvSpPr>
        <p:spPr>
          <a:xfrm>
            <a:off x="1216152" y="5074920"/>
            <a:ext cx="2770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100" dirty="0"/>
          </a:p>
        </p:txBody>
      </p:sp>
      <p:sp>
        <p:nvSpPr>
          <p:cNvPr id="45" name="Text 36"/>
          <p:cNvSpPr/>
          <p:nvPr/>
        </p:nvSpPr>
        <p:spPr>
          <a:xfrm>
            <a:off x="667512" y="5623560"/>
            <a:ext cx="3310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6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state, rate limiting, caching frequent queries</a:t>
            </a:r>
            <a:endParaRPr lang="en-US" sz="960" dirty="0"/>
          </a:p>
        </p:txBody>
      </p:sp>
      <p:sp>
        <p:nvSpPr>
          <p:cNvPr id="46" name="Shape 37"/>
          <p:cNvSpPr/>
          <p:nvPr/>
        </p:nvSpPr>
        <p:spPr>
          <a:xfrm>
            <a:off x="4325112" y="4709160"/>
            <a:ext cx="363931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4489704" y="4910328"/>
            <a:ext cx="438912" cy="438912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48" name="Image 7" descr="/home/claude/icons/handshak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6763" y="4967387"/>
            <a:ext cx="324795" cy="324795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5038344" y="4855464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50" dirty="0"/>
          </a:p>
        </p:txBody>
      </p:sp>
      <p:sp>
        <p:nvSpPr>
          <p:cNvPr id="50" name="Text 40"/>
          <p:cNvSpPr/>
          <p:nvPr/>
        </p:nvSpPr>
        <p:spPr>
          <a:xfrm>
            <a:off x="5038344" y="5074920"/>
            <a:ext cx="2770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/ SCORM-xAPI adapters</a:t>
            </a:r>
            <a:endParaRPr lang="en-US" sz="1100" dirty="0"/>
          </a:p>
        </p:txBody>
      </p:sp>
      <p:sp>
        <p:nvSpPr>
          <p:cNvPr id="51" name="Text 41"/>
          <p:cNvSpPr/>
          <p:nvPr/>
        </p:nvSpPr>
        <p:spPr>
          <a:xfrm>
            <a:off x="4489704" y="5623560"/>
            <a:ext cx="3310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6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iGOT Karmayogi catalog &amp; completion sync</a:t>
            </a:r>
            <a:endParaRPr lang="en-US" sz="960" dirty="0"/>
          </a:p>
        </p:txBody>
      </p:sp>
      <p:sp>
        <p:nvSpPr>
          <p:cNvPr id="52" name="Shape 42"/>
          <p:cNvSpPr/>
          <p:nvPr/>
        </p:nvSpPr>
        <p:spPr>
          <a:xfrm>
            <a:off x="8147304" y="4709160"/>
            <a:ext cx="363931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53" name="Shape 43"/>
          <p:cNvSpPr/>
          <p:nvPr/>
        </p:nvSpPr>
        <p:spPr>
          <a:xfrm>
            <a:off x="8311896" y="4910328"/>
            <a:ext cx="438912" cy="438912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4" name="Image 8" descr="/home/claude/icons/shiel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8955" y="4967387"/>
            <a:ext cx="324795" cy="324795"/>
          </a:xfrm>
          <a:prstGeom prst="rect">
            <a:avLst/>
          </a:prstGeom>
        </p:spPr>
      </p:pic>
      <p:sp>
        <p:nvSpPr>
          <p:cNvPr id="55" name="Text 44"/>
          <p:cNvSpPr/>
          <p:nvPr/>
        </p:nvSpPr>
        <p:spPr>
          <a:xfrm>
            <a:off x="8860536" y="4855464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950" dirty="0"/>
          </a:p>
        </p:txBody>
      </p:sp>
      <p:sp>
        <p:nvSpPr>
          <p:cNvPr id="56" name="Text 45"/>
          <p:cNvSpPr/>
          <p:nvPr/>
        </p:nvSpPr>
        <p:spPr>
          <a:xfrm>
            <a:off x="8860536" y="5074920"/>
            <a:ext cx="2770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/ Kubernetes, CI/CD</a:t>
            </a:r>
            <a:endParaRPr lang="en-US" sz="1100" dirty="0"/>
          </a:p>
        </p:txBody>
      </p:sp>
      <p:sp>
        <p:nvSpPr>
          <p:cNvPr id="57" name="Text 46"/>
          <p:cNvSpPr/>
          <p:nvPr/>
        </p:nvSpPr>
        <p:spPr>
          <a:xfrm>
            <a:off x="8311896" y="5623560"/>
            <a:ext cx="3310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6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Scalable, government-cloud (MeghRaj / NIC) deployable</a:t>
            </a:r>
            <a:endParaRPr lang="en-US" sz="960" dirty="0"/>
          </a:p>
        </p:txBody>
      </p:sp>
      <p:sp>
        <p:nvSpPr>
          <p:cNvPr id="58" name="Text 4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SIH26101 · Adaptive Learning &amp; Assessment Platform</a:t>
            </a:r>
            <a:endParaRPr lang="en-US" sz="900" dirty="0"/>
          </a:p>
        </p:txBody>
      </p:sp>
      <p:sp>
        <p:nvSpPr>
          <p:cNvPr id="59" name="Text 4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QUALITY BAR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Scope and Non-Functional Requirements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532120" cy="2880360"/>
          </a:xfrm>
          <a:prstGeom prst="roundRect">
            <a:avLst>
              <a:gd name="adj" fmla="val 2857"/>
            </a:avLst>
          </a:prstGeom>
          <a:solidFill>
            <a:srgbClr val="E9F5F0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" y="1600200"/>
            <a:ext cx="5020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 SCOPE (MVP + Near-Term)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58952" y="2039112"/>
            <a:ext cx="5020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245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Adaptive diagnostic engine (CAT-style / rule-based)</a:t>
            </a:r>
            <a:endParaRPr lang="en-US" sz="1060" dirty="0"/>
          </a:p>
        </p:txBody>
      </p:sp>
      <p:sp>
        <p:nvSpPr>
          <p:cNvPr id="7" name="Text 5"/>
          <p:cNvSpPr/>
          <p:nvPr/>
        </p:nvSpPr>
        <p:spPr>
          <a:xfrm>
            <a:off x="758952" y="2322576"/>
            <a:ext cx="5020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245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Competency framework mapping (role × skill matrix)</a:t>
            </a:r>
            <a:endParaRPr lang="en-US" sz="1060" dirty="0"/>
          </a:p>
        </p:txBody>
      </p:sp>
      <p:sp>
        <p:nvSpPr>
          <p:cNvPr id="8" name="Text 6"/>
          <p:cNvSpPr/>
          <p:nvPr/>
        </p:nvSpPr>
        <p:spPr>
          <a:xfrm>
            <a:off x="758952" y="2606040"/>
            <a:ext cx="5020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245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RAG-based document ingestion for MCQ/case-study gen.</a:t>
            </a:r>
            <a:endParaRPr lang="en-US" sz="1060" dirty="0"/>
          </a:p>
        </p:txBody>
      </p:sp>
      <p:sp>
        <p:nvSpPr>
          <p:cNvPr id="9" name="Text 7"/>
          <p:cNvSpPr/>
          <p:nvPr/>
        </p:nvSpPr>
        <p:spPr>
          <a:xfrm>
            <a:off x="758952" y="2889504"/>
            <a:ext cx="5020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245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SME review-and-approve workflow</a:t>
            </a:r>
            <a:endParaRPr lang="en-US" sz="1060" dirty="0"/>
          </a:p>
        </p:txBody>
      </p:sp>
      <p:sp>
        <p:nvSpPr>
          <p:cNvPr id="10" name="Text 8"/>
          <p:cNvSpPr/>
          <p:nvPr/>
        </p:nvSpPr>
        <p:spPr>
          <a:xfrm>
            <a:off x="758952" y="3172968"/>
            <a:ext cx="5020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245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iGOT Karmayogi course recommendation engine</a:t>
            </a:r>
            <a:endParaRPr lang="en-US" sz="1060" dirty="0"/>
          </a:p>
        </p:txBody>
      </p:sp>
      <p:sp>
        <p:nvSpPr>
          <p:cNvPr id="11" name="Text 9"/>
          <p:cNvSpPr/>
          <p:nvPr/>
        </p:nvSpPr>
        <p:spPr>
          <a:xfrm>
            <a:off x="758952" y="3456432"/>
            <a:ext cx="5020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245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Learner, coordinator &amp; admin dashboards</a:t>
            </a:r>
            <a:endParaRPr lang="en-US" sz="1060" dirty="0"/>
          </a:p>
        </p:txBody>
      </p:sp>
      <p:sp>
        <p:nvSpPr>
          <p:cNvPr id="12" name="Text 10"/>
          <p:cNvSpPr/>
          <p:nvPr/>
        </p:nvSpPr>
        <p:spPr>
          <a:xfrm>
            <a:off x="758952" y="3739896"/>
            <a:ext cx="5020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245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Bilingual (English + Hindi) responsive UI</a:t>
            </a:r>
            <a:endParaRPr lang="en-US" sz="1060" dirty="0"/>
          </a:p>
        </p:txBody>
      </p:sp>
      <p:sp>
        <p:nvSpPr>
          <p:cNvPr id="13" name="Text 11"/>
          <p:cNvSpPr/>
          <p:nvPr/>
        </p:nvSpPr>
        <p:spPr>
          <a:xfrm>
            <a:off x="758952" y="4023360"/>
            <a:ext cx="5020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245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RBAC + basic audit logging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6172200" y="1417320"/>
            <a:ext cx="5532120" cy="2880360"/>
          </a:xfrm>
          <a:prstGeom prst="roundRect">
            <a:avLst>
              <a:gd name="adj" fmla="val 2857"/>
            </a:avLst>
          </a:prstGeom>
          <a:solidFill>
            <a:srgbClr val="FBEDEC"/>
          </a:solidFill>
          <a:ln/>
        </p:spPr>
      </p:sp>
      <p:sp>
        <p:nvSpPr>
          <p:cNvPr id="15" name="Text 13"/>
          <p:cNvSpPr/>
          <p:nvPr/>
        </p:nvSpPr>
        <p:spPr>
          <a:xfrm>
            <a:off x="6428232" y="1600200"/>
            <a:ext cx="5020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E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OUT OF SCOPE (MVP)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28232" y="2039112"/>
            <a:ext cx="5020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6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Replacing iGOT Karmayogi's LMS (integrates, doesn't replace)</a:t>
            </a:r>
            <a:endParaRPr lang="en-US" sz="1060" dirty="0"/>
          </a:p>
        </p:txBody>
      </p:sp>
      <p:sp>
        <p:nvSpPr>
          <p:cNvPr id="17" name="Text 15"/>
          <p:cNvSpPr/>
          <p:nvPr/>
        </p:nvSpPr>
        <p:spPr>
          <a:xfrm>
            <a:off x="6428232" y="2441448"/>
            <a:ext cx="5020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6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Native mobile apps (responsive web only in MVP)</a:t>
            </a:r>
            <a:endParaRPr lang="en-US" sz="1060" dirty="0"/>
          </a:p>
        </p:txBody>
      </p:sp>
      <p:sp>
        <p:nvSpPr>
          <p:cNvPr id="18" name="Text 16"/>
          <p:cNvSpPr/>
          <p:nvPr/>
        </p:nvSpPr>
        <p:spPr>
          <a:xfrm>
            <a:off x="6428232" y="2843784"/>
            <a:ext cx="5020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6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Automated free-text/essay grading (stretch goal)</a:t>
            </a:r>
            <a:endParaRPr lang="en-US" sz="1060" dirty="0"/>
          </a:p>
        </p:txBody>
      </p:sp>
      <p:sp>
        <p:nvSpPr>
          <p:cNvPr id="19" name="Text 17"/>
          <p:cNvSpPr/>
          <p:nvPr/>
        </p:nvSpPr>
        <p:spPr>
          <a:xfrm>
            <a:off x="6428232" y="3246120"/>
            <a:ext cx="5020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6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Languages beyond English/Hindi (MVP)</a:t>
            </a:r>
            <a:endParaRPr lang="en-US" sz="1060" dirty="0"/>
          </a:p>
        </p:txBody>
      </p:sp>
      <p:sp>
        <p:nvSpPr>
          <p:cNvPr id="20" name="Text 18"/>
          <p:cNvSpPr/>
          <p:nvPr/>
        </p:nvSpPr>
        <p:spPr>
          <a:xfrm>
            <a:off x="6428232" y="3648456"/>
            <a:ext cx="5020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6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Offline-first functionality (future phase)</a:t>
            </a:r>
            <a:endParaRPr lang="en-US" sz="1060" dirty="0"/>
          </a:p>
        </p:txBody>
      </p:sp>
      <p:sp>
        <p:nvSpPr>
          <p:cNvPr id="21" name="Text 19"/>
          <p:cNvSpPr/>
          <p:nvPr/>
        </p:nvSpPr>
        <p:spPr>
          <a:xfrm>
            <a:off x="502920" y="45537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4901184"/>
            <a:ext cx="2724912" cy="777240"/>
          </a:xfrm>
          <a:prstGeom prst="roundRect">
            <a:avLst>
              <a:gd name="adj" fmla="val 8235"/>
            </a:avLst>
          </a:prstGeom>
          <a:solidFill>
            <a:srgbClr val="1B2A4A"/>
          </a:solidFill>
          <a:ln/>
        </p:spPr>
      </p:sp>
      <p:sp>
        <p:nvSpPr>
          <p:cNvPr id="23" name="Shape 21"/>
          <p:cNvSpPr/>
          <p:nvPr/>
        </p:nvSpPr>
        <p:spPr>
          <a:xfrm>
            <a:off x="630936" y="5020056"/>
            <a:ext cx="530352" cy="530352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4" name="Image 0" descr="/home/claude/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882" y="5089002"/>
            <a:ext cx="392460" cy="39246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252728" y="4992624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1252728" y="5266944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50,000+ concurrent users; ≥99.5% uptime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3410712" y="4901184"/>
            <a:ext cx="2724912" cy="777240"/>
          </a:xfrm>
          <a:prstGeom prst="roundRect">
            <a:avLst>
              <a:gd name="adj" fmla="val 8235"/>
            </a:avLst>
          </a:prstGeom>
          <a:solidFill>
            <a:srgbClr val="1B2A4A"/>
          </a:solidFill>
          <a:ln/>
        </p:spPr>
      </p:sp>
      <p:sp>
        <p:nvSpPr>
          <p:cNvPr id="28" name="Shape 25"/>
          <p:cNvSpPr/>
          <p:nvPr/>
        </p:nvSpPr>
        <p:spPr>
          <a:xfrm>
            <a:off x="3538728" y="5020056"/>
            <a:ext cx="530352" cy="530352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9" name="Image 1" descr="/home/claude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674" y="5089002"/>
            <a:ext cx="392460" cy="39246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4160520" y="4992624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4160520" y="5266944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MeitY guidelines; TLS 1.2+, AES-256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6318504" y="4901184"/>
            <a:ext cx="2724912" cy="777240"/>
          </a:xfrm>
          <a:prstGeom prst="roundRect">
            <a:avLst>
              <a:gd name="adj" fmla="val 8235"/>
            </a:avLst>
          </a:prstGeom>
          <a:solidFill>
            <a:srgbClr val="1B2A4A"/>
          </a:solidFill>
          <a:ln/>
        </p:spPr>
      </p:sp>
      <p:sp>
        <p:nvSpPr>
          <p:cNvPr id="33" name="Shape 29"/>
          <p:cNvSpPr/>
          <p:nvPr/>
        </p:nvSpPr>
        <p:spPr>
          <a:xfrm>
            <a:off x="6446520" y="5020056"/>
            <a:ext cx="530352" cy="530352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34" name="Image 2" descr="/home/claude/icons/langu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466" y="5089002"/>
            <a:ext cx="392460" cy="39246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7068312" y="4992624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</a:t>
            </a:r>
            <a:endParaRPr lang="en-US" sz="1150" dirty="0"/>
          </a:p>
        </p:txBody>
      </p:sp>
      <p:sp>
        <p:nvSpPr>
          <p:cNvPr id="36" name="Text 31"/>
          <p:cNvSpPr/>
          <p:nvPr/>
        </p:nvSpPr>
        <p:spPr>
          <a:xfrm>
            <a:off x="7068312" y="5266944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i18n-ready, bilingual content pipeline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9226296" y="4901184"/>
            <a:ext cx="2724912" cy="777240"/>
          </a:xfrm>
          <a:prstGeom prst="roundRect">
            <a:avLst>
              <a:gd name="adj" fmla="val 8235"/>
            </a:avLst>
          </a:prstGeom>
          <a:solidFill>
            <a:srgbClr val="1B2A4A"/>
          </a:solidFill>
          <a:ln/>
        </p:spPr>
      </p:sp>
      <p:sp>
        <p:nvSpPr>
          <p:cNvPr id="38" name="Shape 33"/>
          <p:cNvSpPr/>
          <p:nvPr/>
        </p:nvSpPr>
        <p:spPr>
          <a:xfrm>
            <a:off x="9354312" y="5020056"/>
            <a:ext cx="530352" cy="530352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39" name="Image 3" descr="/home/claude/icons/mobi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3258" y="5089002"/>
            <a:ext cx="392460" cy="39246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9976104" y="4992624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150" dirty="0"/>
          </a:p>
        </p:txBody>
      </p:sp>
      <p:sp>
        <p:nvSpPr>
          <p:cNvPr id="41" name="Text 35"/>
          <p:cNvSpPr/>
          <p:nvPr/>
        </p:nvSpPr>
        <p:spPr>
          <a:xfrm>
            <a:off x="9976104" y="5266944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2.1 AA compliant UI</a:t>
            </a:r>
            <a:endParaRPr lang="en-US" sz="900" dirty="0"/>
          </a:p>
        </p:txBody>
      </p:sp>
      <p:sp>
        <p:nvSpPr>
          <p:cNvPr id="42" name="Text 3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SIH26101 · Adaptive Learning &amp; Assessment Platform</a:t>
            </a:r>
            <a:endParaRPr lang="en-US" sz="900" dirty="0"/>
          </a:p>
        </p:txBody>
      </p:sp>
      <p:sp>
        <p:nvSpPr>
          <p:cNvPr id="43" name="Text 3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Success Looks Like — 6-Month Pilot KPIs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121D33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618488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≥70%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67512" y="2331720"/>
            <a:ext cx="2276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cohort completes diagnostic assessment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91840" y="141732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121D33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56432" y="1618488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≥60%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456432" y="2331720"/>
            <a:ext cx="2276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manual assessment-authoring time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80760" y="141732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121D33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45352" y="1618488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≥25%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245352" y="2331720"/>
            <a:ext cx="2276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lift in course completion (personalized vs. generic)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869680" y="141732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121D33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34272" y="1618488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≥15 pt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034272" y="2331720"/>
            <a:ext cx="2276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skill-gap closure on re-assessment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493008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121D33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694176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≥75%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67512" y="4407408"/>
            <a:ext cx="2276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questions accepted by SMEs without edits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91840" y="3493008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121D33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56432" y="3694176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≥80%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3456432" y="4407408"/>
            <a:ext cx="2276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admins actively using dashboards monthly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80760" y="3493008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121D33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45352" y="3694176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≥99.5%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6245352" y="4407408"/>
            <a:ext cx="2276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uptime SLA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SIH26101 · Adaptive Learning &amp; Assessment Platform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DE-RISKING THE BUILD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Risks &amp; Mitigations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5321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17904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1790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581912" y="1490472"/>
            <a:ext cx="4270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3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hallucination in generated questions/answers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685800" y="1975104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Mandatory SME review-and-approve workflow; source-citation grounding; confidence flagging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5321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517904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C9822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51790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296912" y="1490472"/>
            <a:ext cx="4270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3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iGOT Karmayogi API unavailability / limited access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6400800" y="1975104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Abstraction layer with fallback to manual catalog sync / mock data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502920" y="2816352"/>
            <a:ext cx="55321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2962656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96265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581912" y="2935224"/>
            <a:ext cx="4270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3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learner adoption of diagnostic assessments</a:t>
            </a:r>
            <a:endParaRPr lang="en-US" sz="1130" dirty="0"/>
          </a:p>
        </p:txBody>
      </p:sp>
      <p:sp>
        <p:nvSpPr>
          <p:cNvPr id="18" name="Text 16"/>
          <p:cNvSpPr/>
          <p:nvPr/>
        </p:nvSpPr>
        <p:spPr>
          <a:xfrm>
            <a:off x="685800" y="3419856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Gamification, clear value communication, integration into mandatory training cycles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6217920" y="2816352"/>
            <a:ext cx="55321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2962656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296265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296912" y="2935224"/>
            <a:ext cx="4270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3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sensitivity of official statistical documents</a:t>
            </a:r>
            <a:endParaRPr lang="en-US" sz="1130" dirty="0"/>
          </a:p>
        </p:txBody>
      </p:sp>
      <p:sp>
        <p:nvSpPr>
          <p:cNvPr id="23" name="Text 21"/>
          <p:cNvSpPr/>
          <p:nvPr/>
        </p:nvSpPr>
        <p:spPr>
          <a:xfrm>
            <a:off x="6400800" y="3419856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On-premise/sovereign model hosting option; strict access controls; classification checks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502920" y="4261104"/>
            <a:ext cx="55321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440740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C9822B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4074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581912" y="4379976"/>
            <a:ext cx="4270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3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(Hindi) generation quality</a:t>
            </a:r>
            <a:endParaRPr lang="en-US" sz="1130" dirty="0"/>
          </a:p>
        </p:txBody>
      </p:sp>
      <p:sp>
        <p:nvSpPr>
          <p:cNvPr id="28" name="Text 26"/>
          <p:cNvSpPr/>
          <p:nvPr/>
        </p:nvSpPr>
        <p:spPr>
          <a:xfrm>
            <a:off x="685800" y="4864608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Multilingual-capable LLMs; SME review specifically for regional-language accuracy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6217920" y="4261104"/>
            <a:ext cx="55321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440740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44074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296912" y="4379976"/>
            <a:ext cx="4270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3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at national rollout</a:t>
            </a:r>
            <a:endParaRPr lang="en-US" sz="1130" dirty="0"/>
          </a:p>
        </p:txBody>
      </p:sp>
      <p:sp>
        <p:nvSpPr>
          <p:cNvPr id="33" name="Text 31"/>
          <p:cNvSpPr/>
          <p:nvPr/>
        </p:nvSpPr>
        <p:spPr>
          <a:xfrm>
            <a:off x="6400800" y="4864608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Microservice architecture, horizontal scaling, post-MVP load-testing roadmap</a:t>
            </a:r>
            <a:endParaRPr lang="en-US" sz="97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SIH26101 · Adaptive Learning &amp; Assessment Platform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HACKATHON TO NATIONAL ROLLOUT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Indicative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593592" cy="3291840"/>
          </a:xfrm>
          <a:prstGeom prst="roundRect">
            <a:avLst>
              <a:gd name="adj" fmla="val 2500"/>
            </a:avLst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5623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PROTOTYPE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77240" y="2788920"/>
            <a:ext cx="3044952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971800"/>
            <a:ext cx="30449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diagnostic engine, basic RAG-based MCQ generation, SME review UI, learner/coordinator dashboards on a demo dataset.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0" y="3017520"/>
            <a:ext cx="19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25112" y="1600200"/>
            <a:ext cx="3593592" cy="3291840"/>
          </a:xfrm>
          <a:prstGeom prst="roundRect">
            <a:avLst>
              <a:gd name="adj" fmla="val 2500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185623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99432" y="237744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99432" y="2788920"/>
            <a:ext cx="3044952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9432" y="2971800"/>
            <a:ext cx="30449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iGOT Karmayogi integration, expanded competency framework, real document ingestion at scale, institutional dashboard.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936992" y="3017520"/>
            <a:ext cx="19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147304" y="1600200"/>
            <a:ext cx="3593592" cy="3291840"/>
          </a:xfrm>
          <a:prstGeom prst="roundRect">
            <a:avLst>
              <a:gd name="adj" fmla="val 2500"/>
            </a:avLst>
          </a:prstGeom>
          <a:solidFill>
            <a:srgbClr val="27407A"/>
          </a:solidFill>
          <a:ln/>
        </p:spPr>
      </p:sp>
      <p:sp>
        <p:nvSpPr>
          <p:cNvPr id="17" name="Text 15"/>
          <p:cNvSpPr/>
          <p:nvPr/>
        </p:nvSpPr>
        <p:spPr>
          <a:xfrm>
            <a:off x="8421624" y="185623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421624" y="237744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SCALE-UP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421624" y="2788920"/>
            <a:ext cx="3044952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21624" y="2971800"/>
            <a:ext cx="30449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expansion, native mobile app, advanced adaptive testing (IRT-based), analytics-driven recommendation refinement.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" y="51663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assumption: if iGOT Karmayogi's API is not accessible at hackathon stage, a mock/sample dataset simulates the integration end-to-end.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SIH26101 · Adaptive Learning &amp; Assessment Platform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937760" cy="4937760"/>
          </a:xfrm>
          <a:prstGeom prst="ellipse">
            <a:avLst/>
          </a:prstGeom>
          <a:solidFill>
            <a:srgbClr val="121D33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931920"/>
            <a:ext cx="3840480" cy="384048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build adaptive, AI-driven</a:t>
            </a:r>
            <a:endParaRPr lang="en-US" sz="3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capacity-building for MoSPI.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SIH26101  ·  AI-Enabled Adaptive Learning &amp; Assessment Platform  ·  Ministry of Statistics and Programme Implementation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4636008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451713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guidance on iGOT API access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5020056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490118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on RAG grounding approach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5404104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5285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on govt-cloud deployment path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SIH26101 · Adaptive Learning &amp; Assessment Platform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2026-09-03T07:42:24Z</dcterms:created>
  <dcterms:modified xsi:type="dcterms:W3CDTF">2026-09-03T07:42:24Z</dcterms:modified>
</cp:coreProperties>
</file>